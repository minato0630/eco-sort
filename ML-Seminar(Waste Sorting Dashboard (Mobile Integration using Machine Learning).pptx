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042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34342D-FFA6-42D5-A602-189350785AD1}" v="138" dt="2026-02-02T06:20:14.635"/>
  </p1510:revLst>
</p1510:revInfo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6" autoAdjust="0"/>
    <p:restoredTop sz="94660"/>
  </p:normalViewPr>
  <p:slideViewPr>
    <p:cSldViewPr snapToGrid="0">
      <p:cViewPr varScale="1">
        <p:scale>
          <a:sx n="46" d="100"/>
          <a:sy n="46" d="100"/>
        </p:scale>
        <p:origin x="58" y="8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E912072-4660-43BA-9F42-295722035367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4DE81E91-40D6-4CBA-BB3D-C2435556D06C}">
      <dgm:prSet phldrT="[Text]" custT="1"/>
      <dgm:spPr/>
      <dgm:t>
        <a:bodyPr/>
        <a:lstStyle/>
        <a:p>
          <a:pPr>
            <a:buNone/>
          </a:pPr>
          <a:r>
            <a:rPr lang="en-US" sz="2000" dirty="0">
              <a:latin typeface="Aharoni" panose="02010803020104030203" pitchFamily="2" charset="-79"/>
              <a:cs typeface="Aharoni" panose="02010803020104030203" pitchFamily="2" charset="-79"/>
            </a:rPr>
            <a:t>Image is uploaded by user</a:t>
          </a:r>
          <a:endParaRPr lang="en-IN" sz="2000" dirty="0">
            <a:latin typeface="Aharoni" panose="02010803020104030203" pitchFamily="2" charset="-79"/>
            <a:cs typeface="Aharoni" panose="02010803020104030203" pitchFamily="2" charset="-79"/>
          </a:endParaRPr>
        </a:p>
      </dgm:t>
    </dgm:pt>
    <dgm:pt modelId="{63DE2A2D-71C0-49F9-8B82-BB440EBC42B0}" type="parTrans" cxnId="{BB342D50-F0A9-481B-AA98-9EFEFE82071D}">
      <dgm:prSet/>
      <dgm:spPr/>
      <dgm:t>
        <a:bodyPr/>
        <a:lstStyle/>
        <a:p>
          <a:endParaRPr lang="en-IN" sz="2000">
            <a:latin typeface="Aharoni" panose="02010803020104030203" pitchFamily="2" charset="-79"/>
            <a:cs typeface="Aharoni" panose="02010803020104030203" pitchFamily="2" charset="-79"/>
          </a:endParaRPr>
        </a:p>
      </dgm:t>
    </dgm:pt>
    <dgm:pt modelId="{5918EB8D-B353-4938-9069-6B16D9D2D43F}" type="sibTrans" cxnId="{BB342D50-F0A9-481B-AA98-9EFEFE82071D}">
      <dgm:prSet custT="1"/>
      <dgm:spPr/>
      <dgm:t>
        <a:bodyPr/>
        <a:lstStyle/>
        <a:p>
          <a:endParaRPr lang="en-IN" sz="2000">
            <a:latin typeface="Aharoni" panose="02010803020104030203" pitchFamily="2" charset="-79"/>
            <a:cs typeface="Aharoni" panose="02010803020104030203" pitchFamily="2" charset="-79"/>
          </a:endParaRPr>
        </a:p>
      </dgm:t>
    </dgm:pt>
    <dgm:pt modelId="{F892B1C0-3DCE-4D1D-B87C-AF1E588DF0E4}">
      <dgm:prSet phldrT="[Text]" custT="1"/>
      <dgm:spPr/>
      <dgm:t>
        <a:bodyPr/>
        <a:lstStyle/>
        <a:p>
          <a:pPr>
            <a:buNone/>
          </a:pPr>
          <a:r>
            <a:rPr lang="en-US" sz="2000" dirty="0">
              <a:latin typeface="Aharoni" panose="02010803020104030203" pitchFamily="2" charset="-79"/>
              <a:cs typeface="Aharoni" panose="02010803020104030203" pitchFamily="2" charset="-79"/>
            </a:rPr>
            <a:t>Image is resized and preprocessed</a:t>
          </a:r>
          <a:endParaRPr lang="en-IN" sz="2000" dirty="0">
            <a:latin typeface="Aharoni" panose="02010803020104030203" pitchFamily="2" charset="-79"/>
            <a:cs typeface="Aharoni" panose="02010803020104030203" pitchFamily="2" charset="-79"/>
          </a:endParaRPr>
        </a:p>
      </dgm:t>
    </dgm:pt>
    <dgm:pt modelId="{428F8D05-1D55-4A89-A482-8A606CB90012}" type="parTrans" cxnId="{77B4D24D-0095-4BC4-ABF0-6D15F60A04A2}">
      <dgm:prSet/>
      <dgm:spPr/>
      <dgm:t>
        <a:bodyPr/>
        <a:lstStyle/>
        <a:p>
          <a:endParaRPr lang="en-IN" sz="2000">
            <a:latin typeface="Aharoni" panose="02010803020104030203" pitchFamily="2" charset="-79"/>
            <a:cs typeface="Aharoni" panose="02010803020104030203" pitchFamily="2" charset="-79"/>
          </a:endParaRPr>
        </a:p>
      </dgm:t>
    </dgm:pt>
    <dgm:pt modelId="{5210C6F8-147C-41D7-8975-A074B312C9BB}" type="sibTrans" cxnId="{77B4D24D-0095-4BC4-ABF0-6D15F60A04A2}">
      <dgm:prSet custT="1"/>
      <dgm:spPr/>
      <dgm:t>
        <a:bodyPr/>
        <a:lstStyle/>
        <a:p>
          <a:endParaRPr lang="en-IN" sz="2000">
            <a:latin typeface="Aharoni" panose="02010803020104030203" pitchFamily="2" charset="-79"/>
            <a:cs typeface="Aharoni" panose="02010803020104030203" pitchFamily="2" charset="-79"/>
          </a:endParaRPr>
        </a:p>
      </dgm:t>
    </dgm:pt>
    <dgm:pt modelId="{D807EAD0-948E-4503-BF6A-2B2C9ED16B94}">
      <dgm:prSet phldrT="[Text]" custT="1"/>
      <dgm:spPr/>
      <dgm:t>
        <a:bodyPr/>
        <a:lstStyle/>
        <a:p>
          <a:pPr>
            <a:buNone/>
          </a:pPr>
          <a:r>
            <a:rPr lang="en-IN" sz="2000" dirty="0">
              <a:latin typeface="Aharoni" panose="02010803020104030203" pitchFamily="2" charset="-79"/>
              <a:cs typeface="Aharoni" panose="02010803020104030203" pitchFamily="2" charset="-79"/>
            </a:rPr>
            <a:t>Model predicts waste category</a:t>
          </a:r>
        </a:p>
      </dgm:t>
    </dgm:pt>
    <dgm:pt modelId="{0E915E47-827D-4CDF-9598-320CDFCE8D87}" type="parTrans" cxnId="{9F10EA38-2AF8-4D16-9C05-05D1B364A8B6}">
      <dgm:prSet/>
      <dgm:spPr/>
      <dgm:t>
        <a:bodyPr/>
        <a:lstStyle/>
        <a:p>
          <a:endParaRPr lang="en-IN" sz="2000">
            <a:latin typeface="Aharoni" panose="02010803020104030203" pitchFamily="2" charset="-79"/>
            <a:cs typeface="Aharoni" panose="02010803020104030203" pitchFamily="2" charset="-79"/>
          </a:endParaRPr>
        </a:p>
      </dgm:t>
    </dgm:pt>
    <dgm:pt modelId="{AD19DEA7-2E67-4C42-BE52-B9934FBB98C7}" type="sibTrans" cxnId="{9F10EA38-2AF8-4D16-9C05-05D1B364A8B6}">
      <dgm:prSet/>
      <dgm:spPr/>
      <dgm:t>
        <a:bodyPr/>
        <a:lstStyle/>
        <a:p>
          <a:endParaRPr lang="en-IN" sz="2000">
            <a:latin typeface="Aharoni" panose="02010803020104030203" pitchFamily="2" charset="-79"/>
            <a:cs typeface="Aharoni" panose="02010803020104030203" pitchFamily="2" charset="-79"/>
          </a:endParaRPr>
        </a:p>
      </dgm:t>
    </dgm:pt>
    <dgm:pt modelId="{F9E6FF49-3A81-4AAF-93E2-AD62346FDFEA}" type="pres">
      <dgm:prSet presAssocID="{5E912072-4660-43BA-9F42-295722035367}" presName="linearFlow" presStyleCnt="0">
        <dgm:presLayoutVars>
          <dgm:resizeHandles val="exact"/>
        </dgm:presLayoutVars>
      </dgm:prSet>
      <dgm:spPr/>
    </dgm:pt>
    <dgm:pt modelId="{30DBF488-7464-4163-B79F-ADE923375868}" type="pres">
      <dgm:prSet presAssocID="{4DE81E91-40D6-4CBA-BB3D-C2435556D06C}" presName="node" presStyleLbl="node1" presStyleIdx="0" presStyleCnt="3">
        <dgm:presLayoutVars>
          <dgm:bulletEnabled val="1"/>
        </dgm:presLayoutVars>
      </dgm:prSet>
      <dgm:spPr/>
    </dgm:pt>
    <dgm:pt modelId="{5A8AAEB9-8E03-4C32-AF24-03B0233EACF3}" type="pres">
      <dgm:prSet presAssocID="{5918EB8D-B353-4938-9069-6B16D9D2D43F}" presName="sibTrans" presStyleLbl="sibTrans2D1" presStyleIdx="0" presStyleCnt="2"/>
      <dgm:spPr/>
    </dgm:pt>
    <dgm:pt modelId="{4DE7A9C0-7AB2-4AFD-A89D-92B20B31BAA4}" type="pres">
      <dgm:prSet presAssocID="{5918EB8D-B353-4938-9069-6B16D9D2D43F}" presName="connectorText" presStyleLbl="sibTrans2D1" presStyleIdx="0" presStyleCnt="2"/>
      <dgm:spPr/>
    </dgm:pt>
    <dgm:pt modelId="{30DA1C04-60B2-4DFF-887C-FBCBCF3B7993}" type="pres">
      <dgm:prSet presAssocID="{F892B1C0-3DCE-4D1D-B87C-AF1E588DF0E4}" presName="node" presStyleLbl="node1" presStyleIdx="1" presStyleCnt="3">
        <dgm:presLayoutVars>
          <dgm:bulletEnabled val="1"/>
        </dgm:presLayoutVars>
      </dgm:prSet>
      <dgm:spPr/>
    </dgm:pt>
    <dgm:pt modelId="{CFE6D415-6353-4895-9E73-C5C86AB0E25A}" type="pres">
      <dgm:prSet presAssocID="{5210C6F8-147C-41D7-8975-A074B312C9BB}" presName="sibTrans" presStyleLbl="sibTrans2D1" presStyleIdx="1" presStyleCnt="2"/>
      <dgm:spPr/>
    </dgm:pt>
    <dgm:pt modelId="{6221CFA8-4B75-4477-852D-E0B268B27887}" type="pres">
      <dgm:prSet presAssocID="{5210C6F8-147C-41D7-8975-A074B312C9BB}" presName="connectorText" presStyleLbl="sibTrans2D1" presStyleIdx="1" presStyleCnt="2"/>
      <dgm:spPr/>
    </dgm:pt>
    <dgm:pt modelId="{23D8FA33-A84A-4D5C-83AD-8094A36D5C32}" type="pres">
      <dgm:prSet presAssocID="{D807EAD0-948E-4503-BF6A-2B2C9ED16B94}" presName="node" presStyleLbl="node1" presStyleIdx="2" presStyleCnt="3">
        <dgm:presLayoutVars>
          <dgm:bulletEnabled val="1"/>
        </dgm:presLayoutVars>
      </dgm:prSet>
      <dgm:spPr/>
    </dgm:pt>
  </dgm:ptLst>
  <dgm:cxnLst>
    <dgm:cxn modelId="{15289032-A54A-48F4-87FD-2FDF5459544B}" type="presOf" srcId="{5918EB8D-B353-4938-9069-6B16D9D2D43F}" destId="{4DE7A9C0-7AB2-4AFD-A89D-92B20B31BAA4}" srcOrd="1" destOrd="0" presId="urn:microsoft.com/office/officeart/2005/8/layout/process2"/>
    <dgm:cxn modelId="{9F10EA38-2AF8-4D16-9C05-05D1B364A8B6}" srcId="{5E912072-4660-43BA-9F42-295722035367}" destId="{D807EAD0-948E-4503-BF6A-2B2C9ED16B94}" srcOrd="2" destOrd="0" parTransId="{0E915E47-827D-4CDF-9598-320CDFCE8D87}" sibTransId="{AD19DEA7-2E67-4C42-BE52-B9934FBB98C7}"/>
    <dgm:cxn modelId="{21A7AF62-0D54-42B6-9037-C25235FC727A}" type="presOf" srcId="{5210C6F8-147C-41D7-8975-A074B312C9BB}" destId="{CFE6D415-6353-4895-9E73-C5C86AB0E25A}" srcOrd="0" destOrd="0" presId="urn:microsoft.com/office/officeart/2005/8/layout/process2"/>
    <dgm:cxn modelId="{77B4D24D-0095-4BC4-ABF0-6D15F60A04A2}" srcId="{5E912072-4660-43BA-9F42-295722035367}" destId="{F892B1C0-3DCE-4D1D-B87C-AF1E588DF0E4}" srcOrd="1" destOrd="0" parTransId="{428F8D05-1D55-4A89-A482-8A606CB90012}" sibTransId="{5210C6F8-147C-41D7-8975-A074B312C9BB}"/>
    <dgm:cxn modelId="{BB342D50-F0A9-481B-AA98-9EFEFE82071D}" srcId="{5E912072-4660-43BA-9F42-295722035367}" destId="{4DE81E91-40D6-4CBA-BB3D-C2435556D06C}" srcOrd="0" destOrd="0" parTransId="{63DE2A2D-71C0-49F9-8B82-BB440EBC42B0}" sibTransId="{5918EB8D-B353-4938-9069-6B16D9D2D43F}"/>
    <dgm:cxn modelId="{8B5F5B74-67A4-4FD2-B827-C2C7135F95A5}" type="presOf" srcId="{5210C6F8-147C-41D7-8975-A074B312C9BB}" destId="{6221CFA8-4B75-4477-852D-E0B268B27887}" srcOrd="1" destOrd="0" presId="urn:microsoft.com/office/officeart/2005/8/layout/process2"/>
    <dgm:cxn modelId="{5B9AA15A-C8D3-4554-9827-B5784431F8EE}" type="presOf" srcId="{4DE81E91-40D6-4CBA-BB3D-C2435556D06C}" destId="{30DBF488-7464-4163-B79F-ADE923375868}" srcOrd="0" destOrd="0" presId="urn:microsoft.com/office/officeart/2005/8/layout/process2"/>
    <dgm:cxn modelId="{0B58F57E-E6EF-4010-8F7A-737107E28CA3}" type="presOf" srcId="{D807EAD0-948E-4503-BF6A-2B2C9ED16B94}" destId="{23D8FA33-A84A-4D5C-83AD-8094A36D5C32}" srcOrd="0" destOrd="0" presId="urn:microsoft.com/office/officeart/2005/8/layout/process2"/>
    <dgm:cxn modelId="{E47080C5-8429-43E5-AC16-623B2E6132F7}" type="presOf" srcId="{5918EB8D-B353-4938-9069-6B16D9D2D43F}" destId="{5A8AAEB9-8E03-4C32-AF24-03B0233EACF3}" srcOrd="0" destOrd="0" presId="urn:microsoft.com/office/officeart/2005/8/layout/process2"/>
    <dgm:cxn modelId="{A75A7ACE-5AA8-4428-A2B1-54ED57458B10}" type="presOf" srcId="{F892B1C0-3DCE-4D1D-B87C-AF1E588DF0E4}" destId="{30DA1C04-60B2-4DFF-887C-FBCBCF3B7993}" srcOrd="0" destOrd="0" presId="urn:microsoft.com/office/officeart/2005/8/layout/process2"/>
    <dgm:cxn modelId="{A1CB5AE3-9B77-4714-BB11-89080DA597B1}" type="presOf" srcId="{5E912072-4660-43BA-9F42-295722035367}" destId="{F9E6FF49-3A81-4AAF-93E2-AD62346FDFEA}" srcOrd="0" destOrd="0" presId="urn:microsoft.com/office/officeart/2005/8/layout/process2"/>
    <dgm:cxn modelId="{C76FB36C-47AB-49D6-955D-0302B5C24302}" type="presParOf" srcId="{F9E6FF49-3A81-4AAF-93E2-AD62346FDFEA}" destId="{30DBF488-7464-4163-B79F-ADE923375868}" srcOrd="0" destOrd="0" presId="urn:microsoft.com/office/officeart/2005/8/layout/process2"/>
    <dgm:cxn modelId="{BCD98CFC-DC5B-4697-89C3-C8C9BF7A89C8}" type="presParOf" srcId="{F9E6FF49-3A81-4AAF-93E2-AD62346FDFEA}" destId="{5A8AAEB9-8E03-4C32-AF24-03B0233EACF3}" srcOrd="1" destOrd="0" presId="urn:microsoft.com/office/officeart/2005/8/layout/process2"/>
    <dgm:cxn modelId="{37E3EE59-A6A8-4E64-89C9-7343726F8F34}" type="presParOf" srcId="{5A8AAEB9-8E03-4C32-AF24-03B0233EACF3}" destId="{4DE7A9C0-7AB2-4AFD-A89D-92B20B31BAA4}" srcOrd="0" destOrd="0" presId="urn:microsoft.com/office/officeart/2005/8/layout/process2"/>
    <dgm:cxn modelId="{673C7359-3492-48CF-B89F-B88DB0E53E23}" type="presParOf" srcId="{F9E6FF49-3A81-4AAF-93E2-AD62346FDFEA}" destId="{30DA1C04-60B2-4DFF-887C-FBCBCF3B7993}" srcOrd="2" destOrd="0" presId="urn:microsoft.com/office/officeart/2005/8/layout/process2"/>
    <dgm:cxn modelId="{9BE53AF2-656B-48F8-B186-6E671EE2BE78}" type="presParOf" srcId="{F9E6FF49-3A81-4AAF-93E2-AD62346FDFEA}" destId="{CFE6D415-6353-4895-9E73-C5C86AB0E25A}" srcOrd="3" destOrd="0" presId="urn:microsoft.com/office/officeart/2005/8/layout/process2"/>
    <dgm:cxn modelId="{5BBB3FAC-1C43-4074-97DE-3DC65891668F}" type="presParOf" srcId="{CFE6D415-6353-4895-9E73-C5C86AB0E25A}" destId="{6221CFA8-4B75-4477-852D-E0B268B27887}" srcOrd="0" destOrd="0" presId="urn:microsoft.com/office/officeart/2005/8/layout/process2"/>
    <dgm:cxn modelId="{2ED03D21-2611-420C-8A3A-6AED0036C46D}" type="presParOf" srcId="{F9E6FF49-3A81-4AAF-93E2-AD62346FDFEA}" destId="{23D8FA33-A84A-4D5C-83AD-8094A36D5C32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DBF488-7464-4163-B79F-ADE923375868}">
      <dsp:nvSpPr>
        <dsp:cNvPr id="0" name=""/>
        <dsp:cNvSpPr/>
      </dsp:nvSpPr>
      <dsp:spPr>
        <a:xfrm>
          <a:off x="1732840" y="0"/>
          <a:ext cx="2353691" cy="6961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Aharoni" panose="02010803020104030203" pitchFamily="2" charset="-79"/>
              <a:cs typeface="Aharoni" panose="02010803020104030203" pitchFamily="2" charset="-79"/>
            </a:rPr>
            <a:t>Image is uploaded by user</a:t>
          </a:r>
          <a:endParaRPr lang="en-IN" sz="2000" kern="1200" dirty="0">
            <a:latin typeface="Aharoni" panose="02010803020104030203" pitchFamily="2" charset="-79"/>
            <a:cs typeface="Aharoni" panose="02010803020104030203" pitchFamily="2" charset="-79"/>
          </a:endParaRPr>
        </a:p>
      </dsp:txBody>
      <dsp:txXfrm>
        <a:off x="1753228" y="20388"/>
        <a:ext cx="2312915" cy="655324"/>
      </dsp:txXfrm>
    </dsp:sp>
    <dsp:sp modelId="{5A8AAEB9-8E03-4C32-AF24-03B0233EACF3}">
      <dsp:nvSpPr>
        <dsp:cNvPr id="0" name=""/>
        <dsp:cNvSpPr/>
      </dsp:nvSpPr>
      <dsp:spPr>
        <a:xfrm rot="5400000">
          <a:off x="2779167" y="713503"/>
          <a:ext cx="261037" cy="3132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kern="1200">
            <a:latin typeface="Aharoni" panose="02010803020104030203" pitchFamily="2" charset="-79"/>
            <a:cs typeface="Aharoni" panose="02010803020104030203" pitchFamily="2" charset="-79"/>
          </a:endParaRPr>
        </a:p>
      </dsp:txBody>
      <dsp:txXfrm rot="-5400000">
        <a:off x="2815713" y="739607"/>
        <a:ext cx="187947" cy="182726"/>
      </dsp:txXfrm>
    </dsp:sp>
    <dsp:sp modelId="{30DA1C04-60B2-4DFF-887C-FBCBCF3B7993}">
      <dsp:nvSpPr>
        <dsp:cNvPr id="0" name=""/>
        <dsp:cNvSpPr/>
      </dsp:nvSpPr>
      <dsp:spPr>
        <a:xfrm>
          <a:off x="1732840" y="1044151"/>
          <a:ext cx="2353691" cy="6961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Aharoni" panose="02010803020104030203" pitchFamily="2" charset="-79"/>
              <a:cs typeface="Aharoni" panose="02010803020104030203" pitchFamily="2" charset="-79"/>
            </a:rPr>
            <a:t>Image is resized and preprocessed</a:t>
          </a:r>
          <a:endParaRPr lang="en-IN" sz="2000" kern="1200" dirty="0">
            <a:latin typeface="Aharoni" panose="02010803020104030203" pitchFamily="2" charset="-79"/>
            <a:cs typeface="Aharoni" panose="02010803020104030203" pitchFamily="2" charset="-79"/>
          </a:endParaRPr>
        </a:p>
      </dsp:txBody>
      <dsp:txXfrm>
        <a:off x="1753228" y="1064539"/>
        <a:ext cx="2312915" cy="655324"/>
      </dsp:txXfrm>
    </dsp:sp>
    <dsp:sp modelId="{CFE6D415-6353-4895-9E73-C5C86AB0E25A}">
      <dsp:nvSpPr>
        <dsp:cNvPr id="0" name=""/>
        <dsp:cNvSpPr/>
      </dsp:nvSpPr>
      <dsp:spPr>
        <a:xfrm rot="5400000">
          <a:off x="2779167" y="1757655"/>
          <a:ext cx="261037" cy="3132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kern="1200">
            <a:latin typeface="Aharoni" panose="02010803020104030203" pitchFamily="2" charset="-79"/>
            <a:cs typeface="Aharoni" panose="02010803020104030203" pitchFamily="2" charset="-79"/>
          </a:endParaRPr>
        </a:p>
      </dsp:txBody>
      <dsp:txXfrm rot="-5400000">
        <a:off x="2815713" y="1783759"/>
        <a:ext cx="187947" cy="182726"/>
      </dsp:txXfrm>
    </dsp:sp>
    <dsp:sp modelId="{23D8FA33-A84A-4D5C-83AD-8094A36D5C32}">
      <dsp:nvSpPr>
        <dsp:cNvPr id="0" name=""/>
        <dsp:cNvSpPr/>
      </dsp:nvSpPr>
      <dsp:spPr>
        <a:xfrm>
          <a:off x="1732840" y="2088303"/>
          <a:ext cx="2353691" cy="6961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Aharoni" panose="02010803020104030203" pitchFamily="2" charset="-79"/>
              <a:cs typeface="Aharoni" panose="02010803020104030203" pitchFamily="2" charset="-79"/>
            </a:rPr>
            <a:t>Model predicts waste category</a:t>
          </a:r>
        </a:p>
      </dsp:txBody>
      <dsp:txXfrm>
        <a:off x="1753228" y="2108691"/>
        <a:ext cx="2312915" cy="6553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0D7BBA-6F86-4053-A865-9BB55ABC7F33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722E2-9151-43A6-8CD0-8BAFFF4712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2945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722E2-9151-43A6-8CD0-8BAFFF4712B9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3479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722E2-9151-43A6-8CD0-8BAFFF4712B9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406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185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168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308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843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283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3241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230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957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12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641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5461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258686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0589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193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6817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34680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312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979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43" r:id="rId1"/>
    <p:sldLayoutId id="2147484044" r:id="rId2"/>
    <p:sldLayoutId id="2147484045" r:id="rId3"/>
    <p:sldLayoutId id="2147484046" r:id="rId4"/>
    <p:sldLayoutId id="2147484047" r:id="rId5"/>
    <p:sldLayoutId id="2147484048" r:id="rId6"/>
    <p:sldLayoutId id="2147484049" r:id="rId7"/>
    <p:sldLayoutId id="2147484050" r:id="rId8"/>
    <p:sldLayoutId id="2147484051" r:id="rId9"/>
    <p:sldLayoutId id="2147484052" r:id="rId10"/>
    <p:sldLayoutId id="2147484053" r:id="rId11"/>
    <p:sldLayoutId id="2147484054" r:id="rId12"/>
    <p:sldLayoutId id="2147484055" r:id="rId13"/>
    <p:sldLayoutId id="2147484056" r:id="rId14"/>
    <p:sldLayoutId id="2147484057" r:id="rId15"/>
    <p:sldLayoutId id="2147484058" r:id="rId16"/>
    <p:sldLayoutId id="21474840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6BDB6-A6FB-1274-1BB2-EBDC6530C5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135" y="2793632"/>
            <a:ext cx="8475321" cy="1270735"/>
          </a:xfrm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</a:pPr>
            <a:br>
              <a:rPr lang="en-US" sz="3500" dirty="0">
                <a:latin typeface="Algerian" panose="04020705040A02060702" pitchFamily="82" charset="0"/>
              </a:rPr>
            </a:br>
            <a:r>
              <a:rPr lang="en-US" sz="3500" dirty="0">
                <a:latin typeface="Algerian" panose="04020705040A02060702" pitchFamily="82" charset="0"/>
              </a:rPr>
              <a:t>Waste Sorting Dashboard &amp; Mobile Integration using Machine Learning</a:t>
            </a:r>
            <a:endParaRPr lang="en-IN" sz="3500" dirty="0"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7EBC1E-E9A5-BA0E-2F16-3C36D5DA93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0322" y="4394038"/>
            <a:ext cx="8144134" cy="2006761"/>
          </a:xfrm>
        </p:spPr>
        <p:txBody>
          <a:bodyPr>
            <a:normAutofit lnSpcReduction="10000"/>
          </a:bodyPr>
          <a:lstStyle/>
          <a:p>
            <a:r>
              <a:rPr lang="en-IN" sz="2800" dirty="0">
                <a:latin typeface="Aharoni" panose="02010803020104030203" pitchFamily="2" charset="-79"/>
                <a:cs typeface="Aharoni" panose="02010803020104030203" pitchFamily="2" charset="-79"/>
              </a:rPr>
              <a:t>BY</a:t>
            </a:r>
          </a:p>
          <a:p>
            <a:r>
              <a:rPr lang="en-IN" sz="2800" dirty="0">
                <a:latin typeface="Aharoni" panose="02010803020104030203" pitchFamily="2" charset="-79"/>
                <a:cs typeface="Aharoni" panose="02010803020104030203" pitchFamily="2" charset="-79"/>
              </a:rPr>
              <a:t>GOKUL S</a:t>
            </a:r>
          </a:p>
          <a:p>
            <a:r>
              <a:rPr lang="en-IN" sz="2800" dirty="0">
                <a:latin typeface="Aharoni" panose="02010803020104030203" pitchFamily="2" charset="-79"/>
                <a:cs typeface="Aharoni" panose="02010803020104030203" pitchFamily="2" charset="-79"/>
              </a:rPr>
              <a:t>255214344</a:t>
            </a:r>
          </a:p>
          <a:p>
            <a:r>
              <a:rPr lang="en-IN" sz="2800" dirty="0">
                <a:latin typeface="Aharoni" panose="02010803020104030203" pitchFamily="2" charset="-79"/>
                <a:cs typeface="Aharoni" panose="02010803020104030203" pitchFamily="2" charset="-79"/>
              </a:rPr>
              <a:t>M. Sc. Computer Science – ‘C’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1CD6EA-2268-3A89-4B1A-6BF5285D4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9304" y="4394038"/>
            <a:ext cx="3032695" cy="1723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374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A30A5-55C6-E7A5-B120-B199DFE34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6C499B-A2B5-8F3D-DE51-AB73EDA077D9}"/>
              </a:ext>
            </a:extLst>
          </p:cNvPr>
          <p:cNvSpPr txBox="1"/>
          <p:nvPr/>
        </p:nvSpPr>
        <p:spPr>
          <a:xfrm>
            <a:off x="680321" y="2149019"/>
            <a:ext cx="8957734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Waste management is a major challenge in smart cities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waste segregation is: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Error-prone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Inefficient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can automatically classify waste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Dashboards and mobile apps help visualize results in real time</a:t>
            </a:r>
          </a:p>
          <a:p>
            <a:pPr>
              <a:buNone/>
            </a:pPr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👉 </a:t>
            </a:r>
            <a:r>
              <a:rPr lang="en-US" sz="2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combines ML + web/mobile UI</a:t>
            </a:r>
            <a:endParaRPr lang="en-US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057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83040-350F-3ABA-26B8-8F2B92910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0396B7-AAD3-5900-5AA1-E6776EC1E2CD}"/>
              </a:ext>
            </a:extLst>
          </p:cNvPr>
          <p:cNvSpPr txBox="1"/>
          <p:nvPr/>
        </p:nvSpPr>
        <p:spPr>
          <a:xfrm>
            <a:off x="680321" y="2149019"/>
            <a:ext cx="9428879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Improper waste segregation leads to: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pollution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 recycling efficiency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smart monitoring systems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real-time feedback to users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b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❌ No intelligent system to classify waste and guide disposal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6054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25C7E-AA9B-4D70-06B5-A22B7E678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8A17DD-07B2-8A29-0036-E31EFAF3EA8D}"/>
              </a:ext>
            </a:extLst>
          </p:cNvPr>
          <p:cNvSpPr txBox="1"/>
          <p:nvPr/>
        </p:nvSpPr>
        <p:spPr>
          <a:xfrm>
            <a:off x="680320" y="2470202"/>
            <a:ext cx="8768479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classify waste using Machine Learning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integrate ML output into a web dashboard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support mobile-based waste monitoring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recommend correct waste bins automatically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deploy the system for real-time use</a:t>
            </a:r>
          </a:p>
        </p:txBody>
      </p:sp>
    </p:spTree>
    <p:extLst>
      <p:ext uri="{BB962C8B-B14F-4D97-AF65-F5344CB8AC3E}">
        <p14:creationId xmlns:p14="http://schemas.microsoft.com/office/powerpoint/2010/main" val="12467760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9592E-CA1A-3C48-612B-93B092889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Types of Waste Considered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2695CF-F76A-E962-7817-82E6477D6F56}"/>
              </a:ext>
            </a:extLst>
          </p:cNvPr>
          <p:cNvSpPr txBox="1"/>
          <p:nvPr/>
        </p:nvSpPr>
        <p:spPr>
          <a:xfrm>
            <a:off x="680321" y="2318378"/>
            <a:ext cx="7617012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Plastic waste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Paper waste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Metal waste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Organic (wet) waste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(Optional) E-waste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👉</a:t>
            </a:r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type is mapped to a </a:t>
            </a:r>
            <a:r>
              <a:rPr lang="en-US" sz="2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specific bin color</a:t>
            </a:r>
            <a:endParaRPr lang="en-US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DE8F93-4561-4A3A-E5EE-A41E5EE0D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7251" y="2318378"/>
            <a:ext cx="5537200" cy="294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5672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62867-A922-C75D-2824-C17D4423D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Technology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81AA30-1C2A-D663-45F4-11E7EB03DCF3}"/>
              </a:ext>
            </a:extLst>
          </p:cNvPr>
          <p:cNvSpPr txBox="1"/>
          <p:nvPr/>
        </p:nvSpPr>
        <p:spPr>
          <a:xfrm>
            <a:off x="680321" y="2036508"/>
            <a:ext cx="4216400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</a:p>
          <a:p>
            <a:pPr>
              <a:buNone/>
            </a:pPr>
            <a:endParaRPr lang="en-IN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TensorFlow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CNN (MobileNetV2)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</a:p>
          <a:p>
            <a:pPr>
              <a:buNone/>
            </a:pPr>
            <a:endParaRPr lang="en-IN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Flask (REST API)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D06CF3-41DC-922F-33D2-45E69AFB6E6B}"/>
              </a:ext>
            </a:extLst>
          </p:cNvPr>
          <p:cNvSpPr txBox="1"/>
          <p:nvPr/>
        </p:nvSpPr>
        <p:spPr>
          <a:xfrm>
            <a:off x="5487251" y="2036508"/>
            <a:ext cx="4012349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</a:p>
          <a:p>
            <a:endParaRPr lang="en-IN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</a:p>
          <a:p>
            <a:endParaRPr lang="en-IN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 Code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Jupyter Notebook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Browser / Mobile Web</a:t>
            </a:r>
          </a:p>
        </p:txBody>
      </p:sp>
    </p:spTree>
    <p:extLst>
      <p:ext uri="{BB962C8B-B14F-4D97-AF65-F5344CB8AC3E}">
        <p14:creationId xmlns:p14="http://schemas.microsoft.com/office/powerpoint/2010/main" val="29455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Down 1">
            <a:extLst>
              <a:ext uri="{FF2B5EF4-FFF2-40B4-BE49-F238E27FC236}">
                <a16:creationId xmlns:a16="http://schemas.microsoft.com/office/drawing/2014/main" id="{E5557DC7-A8A9-8A63-A88A-0FDAD56E0BCE}"/>
              </a:ext>
            </a:extLst>
          </p:cNvPr>
          <p:cNvSpPr/>
          <p:nvPr/>
        </p:nvSpPr>
        <p:spPr>
          <a:xfrm>
            <a:off x="4995332" y="1117600"/>
            <a:ext cx="372535" cy="423333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5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F55982-2F64-5ECC-803F-9A2E86A10A46}"/>
              </a:ext>
            </a:extLst>
          </p:cNvPr>
          <p:cNvSpPr/>
          <p:nvPr/>
        </p:nvSpPr>
        <p:spPr>
          <a:xfrm>
            <a:off x="2322026" y="431337"/>
            <a:ext cx="6633547" cy="63094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5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User Image (Camera / Upload)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D13088-B928-A475-2CA4-F8568B848166}"/>
              </a:ext>
            </a:extLst>
          </p:cNvPr>
          <p:cNvSpPr/>
          <p:nvPr/>
        </p:nvSpPr>
        <p:spPr>
          <a:xfrm>
            <a:off x="2658632" y="1596254"/>
            <a:ext cx="5418470" cy="63094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5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Machine Learning Model</a:t>
            </a:r>
            <a:endParaRPr lang="en-US" sz="35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chemeClr val="bg1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43ADEFE2-F182-CCD6-3C04-D44066CF5532}"/>
              </a:ext>
            </a:extLst>
          </p:cNvPr>
          <p:cNvSpPr/>
          <p:nvPr/>
        </p:nvSpPr>
        <p:spPr>
          <a:xfrm>
            <a:off x="4995331" y="2494183"/>
            <a:ext cx="372535" cy="423333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5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21F3F2-9F97-B298-187E-C81B36AB6CB5}"/>
              </a:ext>
            </a:extLst>
          </p:cNvPr>
          <p:cNvSpPr/>
          <p:nvPr/>
        </p:nvSpPr>
        <p:spPr>
          <a:xfrm>
            <a:off x="682153" y="3105834"/>
            <a:ext cx="991329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5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Prediction Output (Waste Type + Confidence)</a:t>
            </a: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4B6BA75F-281E-27AF-5065-816E8BEB0613}"/>
              </a:ext>
            </a:extLst>
          </p:cNvPr>
          <p:cNvSpPr/>
          <p:nvPr/>
        </p:nvSpPr>
        <p:spPr>
          <a:xfrm>
            <a:off x="4995331" y="4059084"/>
            <a:ext cx="372535" cy="423333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5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B3EB0B3-71FB-7DCF-0533-C9D3F98223D4}"/>
              </a:ext>
            </a:extLst>
          </p:cNvPr>
          <p:cNvSpPr/>
          <p:nvPr/>
        </p:nvSpPr>
        <p:spPr>
          <a:xfrm>
            <a:off x="2658632" y="4536767"/>
            <a:ext cx="5870517" cy="63094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5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Flask API (JSON Response)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4125A724-79C9-BB6B-9266-1107E62FCC79}"/>
              </a:ext>
            </a:extLst>
          </p:cNvPr>
          <p:cNvSpPr/>
          <p:nvPr/>
        </p:nvSpPr>
        <p:spPr>
          <a:xfrm>
            <a:off x="4995331" y="5372387"/>
            <a:ext cx="372535" cy="423333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5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01D865-C26B-DA74-EF49-1BCB67DB94FB}"/>
              </a:ext>
            </a:extLst>
          </p:cNvPr>
          <p:cNvSpPr/>
          <p:nvPr/>
        </p:nvSpPr>
        <p:spPr>
          <a:xfrm>
            <a:off x="2608937" y="5923427"/>
            <a:ext cx="5517857" cy="63094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5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Web / Mobile Dashboard</a:t>
            </a:r>
            <a:endParaRPr lang="en-US" sz="35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chemeClr val="bg1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538623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65291-D50B-6836-B039-370773311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Machine Learning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CA733B-E1E9-66C7-EB93-81197137BBC1}"/>
              </a:ext>
            </a:extLst>
          </p:cNvPr>
          <p:cNvSpPr txBox="1"/>
          <p:nvPr/>
        </p:nvSpPr>
        <p:spPr>
          <a:xfrm>
            <a:off x="392455" y="2255503"/>
            <a:ext cx="6262346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2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Neural Network (CNN)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Pretrained </a:t>
            </a:r>
            <a:r>
              <a:rPr lang="en-IN" sz="2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MobileNetV2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Accepts image input (224 × 224)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Outputs: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5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Predicted waste type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Confidence percentage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33B7FA-6100-908F-3EB3-2A46155200B5}"/>
              </a:ext>
            </a:extLst>
          </p:cNvPr>
          <p:cNvSpPr txBox="1"/>
          <p:nvPr/>
        </p:nvSpPr>
        <p:spPr>
          <a:xfrm>
            <a:off x="7196878" y="2228671"/>
            <a:ext cx="4873202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MobileNetV2?</a:t>
            </a:r>
            <a:endParaRPr lang="en-IN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Lightweight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real-time applications</a:t>
            </a:r>
            <a:endParaRPr lang="en-IN" sz="250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9666F36-552E-1C1D-1D5D-09084E43A2E0}"/>
              </a:ext>
            </a:extLst>
          </p:cNvPr>
          <p:cNvCxnSpPr>
            <a:cxnSpLocks/>
          </p:cNvCxnSpPr>
          <p:nvPr/>
        </p:nvCxnSpPr>
        <p:spPr>
          <a:xfrm>
            <a:off x="6790267" y="2228671"/>
            <a:ext cx="0" cy="435109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6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E13F756D-CCAB-69D5-662F-138FB8ACF0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7363610"/>
              </p:ext>
            </p:extLst>
          </p:nvPr>
        </p:nvGraphicFramePr>
        <p:xfrm>
          <a:off x="1763262" y="2036798"/>
          <a:ext cx="5819373" cy="27844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574C96A0-9445-E1F3-C706-5DCDF3EF1C14}"/>
              </a:ext>
            </a:extLst>
          </p:cNvPr>
          <p:cNvGrpSpPr/>
          <p:nvPr/>
        </p:nvGrpSpPr>
        <p:grpSpPr>
          <a:xfrm>
            <a:off x="4519883" y="4885744"/>
            <a:ext cx="285858" cy="251175"/>
            <a:chOff x="2607081" y="722739"/>
            <a:chExt cx="306101" cy="255084"/>
          </a:xfrm>
        </p:grpSpPr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8D7DC6AD-99AC-A6A0-6B5E-69D1CEB09B46}"/>
                </a:ext>
              </a:extLst>
            </p:cNvPr>
            <p:cNvSpPr/>
            <p:nvPr/>
          </p:nvSpPr>
          <p:spPr>
            <a:xfrm rot="5400000">
              <a:off x="2632590" y="697230"/>
              <a:ext cx="255084" cy="306101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Arrow: Right 4">
              <a:extLst>
                <a:ext uri="{FF2B5EF4-FFF2-40B4-BE49-F238E27FC236}">
                  <a16:creationId xmlns:a16="http://schemas.microsoft.com/office/drawing/2014/main" id="{CA786B73-1E17-E59B-7EF7-323B5807649F}"/>
                </a:ext>
              </a:extLst>
            </p:cNvPr>
            <p:cNvSpPr txBox="1"/>
            <p:nvPr/>
          </p:nvSpPr>
          <p:spPr>
            <a:xfrm>
              <a:off x="2668302" y="722739"/>
              <a:ext cx="183661" cy="17855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000" kern="1200"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D0ED741-A083-F169-76D8-9DD934EBC97B}"/>
              </a:ext>
            </a:extLst>
          </p:cNvPr>
          <p:cNvGrpSpPr/>
          <p:nvPr/>
        </p:nvGrpSpPr>
        <p:grpSpPr>
          <a:xfrm>
            <a:off x="3459481" y="5180435"/>
            <a:ext cx="2410748" cy="717370"/>
            <a:chOff x="1944871" y="2120805"/>
            <a:chExt cx="2341722" cy="728535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A4B36DCE-058A-4CE4-4A26-3B3D0E31A3DA}"/>
                </a:ext>
              </a:extLst>
            </p:cNvPr>
            <p:cNvSpPr/>
            <p:nvPr/>
          </p:nvSpPr>
          <p:spPr>
            <a:xfrm>
              <a:off x="1944871" y="2120805"/>
              <a:ext cx="2341722" cy="70693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Rectangle: Rounded Corners 4">
              <a:extLst>
                <a:ext uri="{FF2B5EF4-FFF2-40B4-BE49-F238E27FC236}">
                  <a16:creationId xmlns:a16="http://schemas.microsoft.com/office/drawing/2014/main" id="{F33C33B9-E25E-E28B-E21D-F94F2B436B60}"/>
                </a:ext>
              </a:extLst>
            </p:cNvPr>
            <p:cNvSpPr txBox="1"/>
            <p:nvPr/>
          </p:nvSpPr>
          <p:spPr>
            <a:xfrm>
              <a:off x="2153904" y="2156721"/>
              <a:ext cx="2086291" cy="69261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lvl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dirty="0">
                  <a:latin typeface="Aharoni" panose="02010803020104030203" pitchFamily="2" charset="-79"/>
                  <a:cs typeface="Aharoni" panose="02010803020104030203" pitchFamily="2" charset="-79"/>
                </a:rPr>
                <a:t>Output is generated with confidence score</a:t>
              </a:r>
              <a:endParaRPr lang="en-IN" kern="1200"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D6063C6-6F94-E204-37A9-78B9FB524264}"/>
              </a:ext>
            </a:extLst>
          </p:cNvPr>
          <p:cNvGrpSpPr/>
          <p:nvPr/>
        </p:nvGrpSpPr>
        <p:grpSpPr>
          <a:xfrm>
            <a:off x="4530019" y="5914211"/>
            <a:ext cx="285858" cy="251175"/>
            <a:chOff x="2607081" y="722739"/>
            <a:chExt cx="306101" cy="255084"/>
          </a:xfrm>
        </p:grpSpPr>
        <p:sp>
          <p:nvSpPr>
            <p:cNvPr id="17" name="Arrow: Right 16">
              <a:extLst>
                <a:ext uri="{FF2B5EF4-FFF2-40B4-BE49-F238E27FC236}">
                  <a16:creationId xmlns:a16="http://schemas.microsoft.com/office/drawing/2014/main" id="{39FF269C-3426-B511-CB19-AA4915E3862C}"/>
                </a:ext>
              </a:extLst>
            </p:cNvPr>
            <p:cNvSpPr/>
            <p:nvPr/>
          </p:nvSpPr>
          <p:spPr>
            <a:xfrm rot="5400000">
              <a:off x="2632590" y="697230"/>
              <a:ext cx="255084" cy="306101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Arrow: Right 4">
              <a:extLst>
                <a:ext uri="{FF2B5EF4-FFF2-40B4-BE49-F238E27FC236}">
                  <a16:creationId xmlns:a16="http://schemas.microsoft.com/office/drawing/2014/main" id="{6B7CC4BE-F0AB-DC80-17A0-6C2253BF1D87}"/>
                </a:ext>
              </a:extLst>
            </p:cNvPr>
            <p:cNvSpPr txBox="1"/>
            <p:nvPr/>
          </p:nvSpPr>
          <p:spPr>
            <a:xfrm>
              <a:off x="2668302" y="722739"/>
              <a:ext cx="183661" cy="17855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000" kern="120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4C5C158-EB1F-7997-1E46-FD98F0507858}"/>
              </a:ext>
            </a:extLst>
          </p:cNvPr>
          <p:cNvGrpSpPr/>
          <p:nvPr/>
        </p:nvGrpSpPr>
        <p:grpSpPr>
          <a:xfrm>
            <a:off x="3579517" y="6165386"/>
            <a:ext cx="2186862" cy="696100"/>
            <a:chOff x="1944871" y="2120805"/>
            <a:chExt cx="2341722" cy="706934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B490CBAD-8566-7250-D112-97A05B3471F4}"/>
                </a:ext>
              </a:extLst>
            </p:cNvPr>
            <p:cNvSpPr/>
            <p:nvPr/>
          </p:nvSpPr>
          <p:spPr>
            <a:xfrm>
              <a:off x="1944871" y="2120805"/>
              <a:ext cx="2341722" cy="70693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Rectangle: Rounded Corners 4">
              <a:extLst>
                <a:ext uri="{FF2B5EF4-FFF2-40B4-BE49-F238E27FC236}">
                  <a16:creationId xmlns:a16="http://schemas.microsoft.com/office/drawing/2014/main" id="{9FF2345D-0A9E-C467-1FFE-A90514468E22}"/>
                </a:ext>
              </a:extLst>
            </p:cNvPr>
            <p:cNvSpPr txBox="1"/>
            <p:nvPr/>
          </p:nvSpPr>
          <p:spPr>
            <a:xfrm>
              <a:off x="1965576" y="2141510"/>
              <a:ext cx="2300311" cy="66552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lvl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dirty="0">
                  <a:latin typeface="Aharoni" panose="02010803020104030203" pitchFamily="2" charset="-79"/>
                  <a:cs typeface="Aharoni" panose="02010803020104030203" pitchFamily="2" charset="-79"/>
                </a:rPr>
                <a:t>Result is sent to dashboard</a:t>
              </a:r>
              <a:endParaRPr lang="en-IN" sz="2000" kern="1200"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sp>
        <p:nvSpPr>
          <p:cNvPr id="26" name="Title 1">
            <a:extLst>
              <a:ext uri="{FF2B5EF4-FFF2-40B4-BE49-F238E27FC236}">
                <a16:creationId xmlns:a16="http://schemas.microsoft.com/office/drawing/2014/main" id="{A05D7009-9BE6-8ADB-6DD2-E184FA7B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854" y="698774"/>
            <a:ext cx="9613861" cy="1080938"/>
          </a:xfrm>
        </p:spPr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Model Workflow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F741188-DB22-47A2-D6EF-4CA8341A44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4001" y="2198505"/>
            <a:ext cx="4874354" cy="324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9363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B75C8-5FBE-8A64-92BA-B7182F5B9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Flask Backend (API Layer)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64F087-419F-FAD1-D327-F7E67846505B}"/>
              </a:ext>
            </a:extLst>
          </p:cNvPr>
          <p:cNvSpPr txBox="1"/>
          <p:nvPr/>
        </p:nvSpPr>
        <p:spPr>
          <a:xfrm>
            <a:off x="680321" y="2149786"/>
            <a:ext cx="638386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Flask is used to create a REST API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Endpoint:</a:t>
            </a:r>
          </a:p>
          <a:p>
            <a:pPr rtl="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 /predict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Accepts image as input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Returns output in JSON format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Response: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rtl="0">
              <a:buNone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"waste_type": "plastic bottle",</a:t>
            </a:r>
          </a:p>
          <a:p>
            <a:pPr rtl="0">
              <a:buNone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"confidence": 92.4}</a:t>
            </a:r>
          </a:p>
        </p:txBody>
      </p:sp>
    </p:spTree>
    <p:extLst>
      <p:ext uri="{BB962C8B-B14F-4D97-AF65-F5344CB8AC3E}">
        <p14:creationId xmlns:p14="http://schemas.microsoft.com/office/powerpoint/2010/main" val="2158213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DC4AE-7F11-5B13-B54B-DC07FECE8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  <a:cs typeface="Aharoni" panose="02010803020104030203" pitchFamily="2" charset="-79"/>
              </a:rPr>
              <a:t>Embedding ML Output into UI</a:t>
            </a:r>
            <a:endParaRPr lang="en-IN" dirty="0">
              <a:latin typeface="Algerian" panose="04020705040A02060702" pitchFamily="82" charset="0"/>
              <a:cs typeface="Aharoni" panose="02010803020104030203" pitchFamily="2" charset="-79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A33DE9-A393-055C-0451-8D681ED19D55}"/>
              </a:ext>
            </a:extLst>
          </p:cNvPr>
          <p:cNvSpPr txBox="1"/>
          <p:nvPr/>
        </p:nvSpPr>
        <p:spPr>
          <a:xfrm>
            <a:off x="863201" y="1963145"/>
            <a:ext cx="7854079" cy="5093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 sends image using fetch()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Flask API returns JSON response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JavaScript reads: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waste_type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Confidence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UI dynamically updates: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Waste name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Confidence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Bin color</a:t>
            </a:r>
          </a:p>
        </p:txBody>
      </p:sp>
    </p:spTree>
    <p:extLst>
      <p:ext uri="{BB962C8B-B14F-4D97-AF65-F5344CB8AC3E}">
        <p14:creationId xmlns:p14="http://schemas.microsoft.com/office/powerpoint/2010/main" val="4156501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618B-1D51-4BA5-D58E-D22AF3F01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Web Dashboard UI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CAFC81-5662-FDD9-C80F-93B0D6490E0B}"/>
              </a:ext>
            </a:extLst>
          </p:cNvPr>
          <p:cNvSpPr txBox="1"/>
          <p:nvPr/>
        </p:nvSpPr>
        <p:spPr>
          <a:xfrm>
            <a:off x="680321" y="2012832"/>
            <a:ext cx="4247279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pPr>
              <a:buNone/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upload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button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Waste type display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Confidence score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 recommendation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</a:p>
          <a:p>
            <a:pPr>
              <a:buNone/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updates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Responsive (mobile-friendly)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6EC64C-1FAC-AB76-DC7E-90F23A1A7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032" y="2012831"/>
            <a:ext cx="5963513" cy="4472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844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E30EC-AC7F-EAFD-5359-63F1DFA1C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Bin Recommendation Logic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B48CEE7-1417-662A-5CF9-0799FAA438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0349420"/>
              </p:ext>
            </p:extLst>
          </p:nvPr>
        </p:nvGraphicFramePr>
        <p:xfrm>
          <a:off x="565248" y="2147602"/>
          <a:ext cx="4785687" cy="4195697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595229">
                  <a:extLst>
                    <a:ext uri="{9D8B030D-6E8A-4147-A177-3AD203B41FA5}">
                      <a16:colId xmlns:a16="http://schemas.microsoft.com/office/drawing/2014/main" val="3881748614"/>
                    </a:ext>
                  </a:extLst>
                </a:gridCol>
                <a:gridCol w="1595229">
                  <a:extLst>
                    <a:ext uri="{9D8B030D-6E8A-4147-A177-3AD203B41FA5}">
                      <a16:colId xmlns:a16="http://schemas.microsoft.com/office/drawing/2014/main" val="2586071014"/>
                    </a:ext>
                  </a:extLst>
                </a:gridCol>
                <a:gridCol w="1595229">
                  <a:extLst>
                    <a:ext uri="{9D8B030D-6E8A-4147-A177-3AD203B41FA5}">
                      <a16:colId xmlns:a16="http://schemas.microsoft.com/office/drawing/2014/main" val="2788609005"/>
                    </a:ext>
                  </a:extLst>
                </a:gridCol>
              </a:tblGrid>
              <a:tr h="657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Waste Type: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chemeClr val="accent1">
                            <a:tint val="20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tint val="20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tint val="2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Bin Color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chemeClr val="accent1">
                            <a:tint val="20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tint val="20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tint val="2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chemeClr val="accent1">
                            <a:tint val="20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tint val="20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tint val="2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450258958"/>
                  </a:ext>
                </a:extLst>
              </a:tr>
              <a:tr h="4927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Plastic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chemeClr val="accent1">
                            <a:tint val="20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tint val="20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tint val="2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Blue </a:t>
                      </a:r>
                      <a:r>
                        <a:rPr lang="en-IN" dirty="0"/>
                        <a:t>🟦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gradFill flip="none" rotWithShape="1">
                      <a:gsLst>
                        <a:gs pos="0">
                          <a:schemeClr val="accent1">
                            <a:tint val="20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tint val="20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tint val="2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Recyclable plastic waste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chemeClr val="accent1">
                            <a:tint val="20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tint val="20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tint val="2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07879192"/>
                  </a:ext>
                </a:extLst>
              </a:tr>
              <a:tr h="4927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chemeClr val="accent1">
                            <a:tint val="20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tint val="20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tint val="2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Blue </a:t>
                      </a:r>
                      <a:r>
                        <a:rPr lang="en-IN" dirty="0"/>
                        <a:t>🟦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gradFill flip="none" rotWithShape="1">
                      <a:gsLst>
                        <a:gs pos="0">
                          <a:schemeClr val="accent1">
                            <a:tint val="20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tint val="20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tint val="2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Recyclable paper waste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chemeClr val="accent1">
                            <a:tint val="20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tint val="20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tint val="2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710900519"/>
                  </a:ext>
                </a:extLst>
              </a:tr>
              <a:tr h="4927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Metal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chemeClr val="accent1">
                            <a:tint val="20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tint val="20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tint val="2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 </a:t>
                      </a:r>
                      <a:r>
                        <a:rPr lang="en-IN" dirty="0"/>
                        <a:t>🟥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gradFill flip="none" rotWithShape="1">
                      <a:gsLst>
                        <a:gs pos="0">
                          <a:schemeClr val="accent1">
                            <a:tint val="20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tint val="20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tint val="2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Metal cans and tins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chemeClr val="accent1">
                            <a:tint val="20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tint val="20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tint val="2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428820005"/>
                  </a:ext>
                </a:extLst>
              </a:tr>
              <a:tr h="7039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Organic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chemeClr val="accent1">
                            <a:tint val="20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tint val="20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tint val="2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Green </a:t>
                      </a:r>
                      <a:r>
                        <a:rPr lang="en-IN" dirty="0"/>
                        <a:t>🟩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gradFill flip="none" rotWithShape="1">
                      <a:gsLst>
                        <a:gs pos="0">
                          <a:schemeClr val="accent1">
                            <a:tint val="20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tint val="20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tint val="2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Food and biodegradable waste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chemeClr val="accent1">
                            <a:tint val="20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tint val="20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tint val="2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148582087"/>
                  </a:ext>
                </a:extLst>
              </a:tr>
              <a:tr h="7039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Other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chemeClr val="accent1">
                            <a:tint val="20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tint val="20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tint val="2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Gray </a:t>
                      </a:r>
                      <a:r>
                        <a:rPr lang="en-IN" dirty="0"/>
                        <a:t>⬜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gradFill flip="none" rotWithShape="1">
                      <a:gsLst>
                        <a:gs pos="0">
                          <a:schemeClr val="accent1">
                            <a:tint val="20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tint val="20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tint val="2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Non-recyclable waste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chemeClr val="accent1">
                            <a:tint val="20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tint val="20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tint val="20000"/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67155427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416EB27-A9F9-1AC4-D299-12E8A3315263}"/>
              </a:ext>
            </a:extLst>
          </p:cNvPr>
          <p:cNvSpPr txBox="1"/>
          <p:nvPr/>
        </p:nvSpPr>
        <p:spPr>
          <a:xfrm>
            <a:off x="3793067" y="6343298"/>
            <a:ext cx="6096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logic is implemented in JavaScript.</a:t>
            </a:r>
            <a:endParaRPr lang="en-IN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7CEE03-A61F-D837-F966-97E419E6D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952" y="2147602"/>
            <a:ext cx="5130800" cy="4195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973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65C922D-5D5E-C8DC-4ECE-7A2DC2227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dirty="0">
                <a:latin typeface="Algerian" panose="04020705040A02060702" pitchFamily="82" charset="0"/>
              </a:rPr>
              <a:t>Advantages                     Limitations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38C9227-492A-D94F-C67E-ABBE51E7F52C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680320" y="2359123"/>
            <a:ext cx="4312399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waste classification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human error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recycling efficiency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Scalable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smart city initiatives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1249CA0E-7393-B978-ACA5-14DAC3E4D9C9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678789" y="2625217"/>
            <a:ext cx="5531077" cy="2785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Depends on image quality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waste categories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Requires internet for deployment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Accuracy depends on training data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1C23491-CBE4-3B21-7E40-C27E05440949}"/>
              </a:ext>
            </a:extLst>
          </p:cNvPr>
          <p:cNvCxnSpPr>
            <a:stCxn id="3" idx="0"/>
            <a:endCxn id="3" idx="2"/>
          </p:cNvCxnSpPr>
          <p:nvPr/>
        </p:nvCxnSpPr>
        <p:spPr>
          <a:xfrm>
            <a:off x="5487252" y="753228"/>
            <a:ext cx="0" cy="108093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9DE6BC-D727-63E1-7566-C4B643954A2F}"/>
              </a:ext>
            </a:extLst>
          </p:cNvPr>
          <p:cNvCxnSpPr>
            <a:cxnSpLocks/>
          </p:cNvCxnSpPr>
          <p:nvPr/>
        </p:nvCxnSpPr>
        <p:spPr>
          <a:xfrm>
            <a:off x="5487252" y="2062484"/>
            <a:ext cx="0" cy="466004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97428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7EE68-6607-7E49-5B77-9D7A3F6F1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0" y="702428"/>
            <a:ext cx="10241679" cy="1080938"/>
          </a:xfrm>
        </p:spPr>
        <p:txBody>
          <a:bodyPr>
            <a:normAutofit/>
          </a:bodyPr>
          <a:lstStyle/>
          <a:p>
            <a:pPr algn="ctr"/>
            <a:r>
              <a:rPr lang="en-IN" dirty="0">
                <a:latin typeface="Algerian" panose="04020705040A02060702" pitchFamily="82" charset="0"/>
              </a:rPr>
              <a:t>Applications         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FDF6A-96D4-D865-F5AD-6114698262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454" y="2336873"/>
            <a:ext cx="4698358" cy="3599316"/>
          </a:xfrm>
        </p:spPr>
        <p:txBody>
          <a:bodyPr>
            <a:normAutofit fontScale="92500" lnSpcReduction="20000"/>
          </a:bodyPr>
          <a:lstStyle/>
          <a:p>
            <a:r>
              <a:rPr lang="en-IN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cities</a:t>
            </a:r>
          </a:p>
          <a:p>
            <a:endParaRPr lang="en-IN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Municipal waste management</a:t>
            </a:r>
          </a:p>
          <a:p>
            <a:endParaRPr lang="en-IN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waste bins</a:t>
            </a:r>
          </a:p>
          <a:p>
            <a:endParaRPr lang="en-IN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Educational institutions</a:t>
            </a:r>
          </a:p>
          <a:p>
            <a:endParaRPr lang="en-IN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Recycling plants</a:t>
            </a:r>
          </a:p>
          <a:p>
            <a:endParaRPr lang="en-IN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0B8CF54C-AEF0-8728-C926-893DA7D95979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480050" y="2320013"/>
            <a:ext cx="4983095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 waste dataset training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camera integration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IoT-enabled smart bins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Waste analytics dashboard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Cloud-based large-scale deployment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709597B-8639-291C-0164-C262508F6B14}"/>
              </a:ext>
            </a:extLst>
          </p:cNvPr>
          <p:cNvCxnSpPr/>
          <p:nvPr/>
        </p:nvCxnSpPr>
        <p:spPr>
          <a:xfrm>
            <a:off x="5030052" y="702428"/>
            <a:ext cx="0" cy="108093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167BD56-651D-B554-B76B-3A9F252346EB}"/>
              </a:ext>
            </a:extLst>
          </p:cNvPr>
          <p:cNvCxnSpPr>
            <a:cxnSpLocks/>
          </p:cNvCxnSpPr>
          <p:nvPr/>
        </p:nvCxnSpPr>
        <p:spPr>
          <a:xfrm>
            <a:off x="5030052" y="2057094"/>
            <a:ext cx="0" cy="454690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38522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9A4186F-A463-6CDF-F168-C9A01A9C3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16317B-F81B-42AB-B2E4-BF9921B33972}"/>
              </a:ext>
            </a:extLst>
          </p:cNvPr>
          <p:cNvSpPr txBox="1"/>
          <p:nvPr/>
        </p:nvSpPr>
        <p:spPr>
          <a:xfrm>
            <a:off x="680321" y="2396405"/>
            <a:ext cx="6905812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enables intelligent waste sorting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and mobile dashboards improve usability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classification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guidance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 waste management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real-world and academic use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FA7A315-7287-8ED7-2209-D7D01560D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6144" y="3702736"/>
            <a:ext cx="4735856" cy="3155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5535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34D1B2-93BE-F77B-250C-37E68220EBBC}"/>
              </a:ext>
            </a:extLst>
          </p:cNvPr>
          <p:cNvSpPr/>
          <p:nvPr/>
        </p:nvSpPr>
        <p:spPr>
          <a:xfrm rot="20307694">
            <a:off x="4128233" y="2505670"/>
            <a:ext cx="4612866" cy="923330"/>
          </a:xfrm>
          <a:prstGeom prst="rect">
            <a:avLst/>
          </a:prstGeom>
          <a:solidFill>
            <a:schemeClr val="bg2"/>
          </a:solidFill>
        </p:spPr>
        <p:txBody>
          <a:bodyPr wrap="none" lIns="91440" tIns="45720" rIns="91440" bIns="45720">
            <a:prstTxWarp prst="textPlain">
              <a:avLst/>
            </a:prstTxWarp>
            <a:spAutoFit/>
            <a:scene3d>
              <a:camera prst="perspectiveHeroicExtremeRightFacing"/>
              <a:lightRig rig="threePt" dir="t"/>
            </a:scene3d>
            <a:sp3d extrusionH="57150">
              <a:bevelT w="38100" h="38100" prst="slope"/>
            </a:sp3d>
          </a:bodyPr>
          <a:lstStyle/>
          <a:p>
            <a:pPr algn="ctr"/>
            <a:r>
              <a:rPr lang="en-US" sz="5400" dirty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  <a:outerShdw blurRad="50800" dist="38100" dir="16200000" rotWithShape="0">
                    <a:prstClr val="black">
                      <a:alpha val="40000"/>
                    </a:prstClr>
                  </a:outerShdw>
                  <a:reflection blurRad="6350" stA="50000" endA="300" endPos="50000" dist="60007" dir="5400000" sy="-100000" algn="bl" rotWithShape="0"/>
                </a:effectLst>
                <a:latin typeface="Algerian" panose="04020705040A02060702" pitchFamily="82" charset="0"/>
              </a:rPr>
              <a:t>THANK YOU</a:t>
            </a:r>
          </a:p>
        </p:txBody>
      </p:sp>
      <p:sp>
        <p:nvSpPr>
          <p:cNvPr id="3" name="Thought Bubble: Cloud 2">
            <a:extLst>
              <a:ext uri="{FF2B5EF4-FFF2-40B4-BE49-F238E27FC236}">
                <a16:creationId xmlns:a16="http://schemas.microsoft.com/office/drawing/2014/main" id="{D3E01482-5A4F-CF75-9F76-D13CA64E659F}"/>
              </a:ext>
            </a:extLst>
          </p:cNvPr>
          <p:cNvSpPr/>
          <p:nvPr/>
        </p:nvSpPr>
        <p:spPr>
          <a:xfrm>
            <a:off x="7196667" y="513090"/>
            <a:ext cx="2133600" cy="965200"/>
          </a:xfrm>
          <a:prstGeom prst="cloudCallou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r>
              <a:rPr lang="en-IN" dirty="0">
                <a:ln>
                  <a:solidFill>
                    <a:schemeClr val="bg1"/>
                  </a:solidFill>
                </a:ln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Any Questions</a:t>
            </a:r>
          </a:p>
        </p:txBody>
      </p:sp>
    </p:spTree>
    <p:extLst>
      <p:ext uri="{BB962C8B-B14F-4D97-AF65-F5344CB8AC3E}">
        <p14:creationId xmlns:p14="http://schemas.microsoft.com/office/powerpoint/2010/main" val="35995178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erlin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403</TotalTime>
  <Words>539</Words>
  <Application>Microsoft Office PowerPoint</Application>
  <PresentationFormat>Widescreen</PresentationFormat>
  <Paragraphs>212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Aharoni</vt:lpstr>
      <vt:lpstr>Algerian</vt:lpstr>
      <vt:lpstr>Arial</vt:lpstr>
      <vt:lpstr>Calibri</vt:lpstr>
      <vt:lpstr>Times New Roman</vt:lpstr>
      <vt:lpstr>Trebuchet MS</vt:lpstr>
      <vt:lpstr>Berlin</vt:lpstr>
      <vt:lpstr> Waste Sorting Dashboard &amp; Mobile Integration using Machine Learning</vt:lpstr>
      <vt:lpstr>Introduction</vt:lpstr>
      <vt:lpstr>Problem Statement</vt:lpstr>
      <vt:lpstr>Objectives</vt:lpstr>
      <vt:lpstr>Types of Waste Considered</vt:lpstr>
      <vt:lpstr>Technology Stack</vt:lpstr>
      <vt:lpstr>PowerPoint Presentation</vt:lpstr>
      <vt:lpstr>Machine Learning Model</vt:lpstr>
      <vt:lpstr>Model Workflow</vt:lpstr>
      <vt:lpstr>Flask Backend (API Layer)</vt:lpstr>
      <vt:lpstr>Embedding ML Output into UI</vt:lpstr>
      <vt:lpstr>Web Dashboard UI</vt:lpstr>
      <vt:lpstr>Bin Recommendation Logic</vt:lpstr>
      <vt:lpstr>Advantages                     Limitations</vt:lpstr>
      <vt:lpstr>Applications         Future Enhancements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MINATO S</dc:creator>
  <cp:lastModifiedBy>MINATO S</cp:lastModifiedBy>
  <cp:revision>12</cp:revision>
  <dcterms:created xsi:type="dcterms:W3CDTF">2026-02-01T16:29:23Z</dcterms:created>
  <dcterms:modified xsi:type="dcterms:W3CDTF">2026-02-04T04:01:37Z</dcterms:modified>
</cp:coreProperties>
</file>